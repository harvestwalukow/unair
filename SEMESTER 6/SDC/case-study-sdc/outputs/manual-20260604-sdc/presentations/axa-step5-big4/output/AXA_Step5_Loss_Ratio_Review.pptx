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14c13e78864744" /><Relationship Type="http://schemas.openxmlformats.org/officeDocument/2006/relationships/extended-properties" Target="/docProps/app.xml" Id="R3c077ca277fb4402" /><Relationship Type="http://schemas.openxmlformats.org/officeDocument/2006/relationships/officeDocument" Target="/ppt/presentation.xml" Id="Rfc98317c180b47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9dff823733475a"/>
  </p:sldMasterIdLst>
  <p:notesMasterIdLst>
    <p:notesMasterId xmlns:r="http://schemas.openxmlformats.org/officeDocument/2006/relationships" r:id="Rc21484d779a54a58"/>
  </p:notesMasterIdLst>
  <p:sldIdLst>
    <p:sldId xmlns:r="http://schemas.openxmlformats.org/officeDocument/2006/relationships" id="256" r:id="Rc3ec3696ba024e6e"/>
    <p:sldId xmlns:r="http://schemas.openxmlformats.org/officeDocument/2006/relationships" id="257" r:id="R9175cd73dcb049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ba85c2b7c348a2" /><Relationship Type="http://schemas.openxmlformats.org/officeDocument/2006/relationships/slideMaster" Target="/ppt/slideMasters/slideMaster1.xml" Id="Rfb9dff823733475a" /><Relationship Type="http://schemas.openxmlformats.org/officeDocument/2006/relationships/notesMaster" Target="/ppt/notesMasters/notesMaster1.xml" Id="Rc21484d779a54a58" /><Relationship Type="http://schemas.openxmlformats.org/officeDocument/2006/relationships/presProps" Target="/ppt/presProps.xml" Id="Re973b36a74a94b2f" /><Relationship Type="http://schemas.openxmlformats.org/officeDocument/2006/relationships/viewProps" Target="/ppt/viewProps.xml" Id="R9728f95e6da84bd8" /><Relationship Type="http://schemas.openxmlformats.org/officeDocument/2006/relationships/tableStyles" Target="/ppt/tableStyles.xml" Id="Ra4e7b85b26e84025" /><Relationship Type="http://schemas.openxmlformats.org/officeDocument/2006/relationships/slide" Target="/ppt/slides/slide1.xml" Id="Rc3ec3696ba024e6e" /><Relationship Type="http://schemas.openxmlformats.org/officeDocument/2006/relationships/slide" Target="/ppt/slides/slide2.xml" Id="R9175cd73dcb049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3dc84cceba43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827fdfff584933" /><Relationship Type="http://schemas.openxmlformats.org/officeDocument/2006/relationships/notesMaster" Target="/ppt/notesMasters/notesMaster1.xml" Id="R44c2b11684404d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47eeba96c24e70" /><Relationship Type="http://schemas.openxmlformats.org/officeDocument/2006/relationships/notesMaster" Target="/ppt/notesMasters/notesMaster1.xml" Id="R8ca6406b29544d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162a8a5cd43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9e8b56a794401a" /><Relationship Type="http://schemas.openxmlformats.org/officeDocument/2006/relationships/slideLayout" Target="/ppt/slideLayouts/slideLayout1.xml" Id="R35f5e85c8c6f49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5e85c8c6f49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9ab5b009f4a33" /><Relationship Type="http://schemas.openxmlformats.org/officeDocument/2006/relationships/notesSlide" Target="/ppt/notesSlides/notesSlide1.xml" Id="R8459901b6bbc49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56c4a827f4a33" /><Relationship Type="http://schemas.openxmlformats.org/officeDocument/2006/relationships/notesSlide" Target="/ppt/notesSlides/notesSlide2.xml" Id="R0a456cfa8e0a42c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D09D49-1DB9-48C1-BDF9-7EF8048D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1F5AA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86D2DB-6C56-4AF7-84F7-1F589CF7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6017514" cy="640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F2747"/>
                </a:solidFill>
              </a:defRPr>
            </a:pPr>
            <a:r>
              <a:t>AXA Indonesia | Step 5 Loss Ratio &amp; Profitability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18408-6E91-488E-AC63-24283A40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25880"/>
            <a:ext cx="3731228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7"/>
                </a:solidFill>
              </a:defRPr>
            </a:pPr>
            <a:r>
              <a:t>Case study portfolio review | Policy-level aggregation of premium and claim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F39FA-FCD9-4D36-AD7D-9A492E04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926411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B2430"/>
                </a:solidFill>
              </a:defRPr>
            </a:pPr>
            <a:r>
              <a:t>Portfolio remains profitable in nominal underwriting terms, but profitability is uneven and concentrated in a few loss-making pockets.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D26C3-1DD1-4AFC-A6BA-9E8EB75C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0280"/>
            <a:ext cx="6712458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B2430"/>
                </a:solidFill>
              </a:defRPr>
            </a:pPr>
            <a:r>
              <a:t>Net loss ratio at portfolio level is 58.5%, while segment-level stress appears in COB 4, Branch K, Channel B, and Product0221.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C86A4-6ADB-46E5-A353-5E36F788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964502" cy="2628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2747"/>
                </a:solidFill>
              </a:defRPr>
            </a:pPr>
            <a:r>
              <a:t>IDR 1.964T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E6487-31BF-426B-83DA-E30E6148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2740"/>
            <a:ext cx="566833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777"/>
                </a:solidFill>
              </a:defRPr>
            </a:pPr>
            <a:r>
              <a:t>Net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C6743-43C6-4ABC-83FD-B521DDF7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571750"/>
            <a:ext cx="655796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2747"/>
                </a:solidFill>
              </a:defRPr>
            </a:pPr>
            <a:r>
              <a:t>58.54%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438C2-C098-4FA6-B811-F7335314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3135630"/>
            <a:ext cx="935736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777"/>
                </a:solidFill>
              </a:defRPr>
            </a:pPr>
            <a:r>
              <a:t>Portfolio net loss ratio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B7C3E-38E2-43BC-915B-9B92E772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71750"/>
            <a:ext cx="976884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2747"/>
                </a:solidFill>
              </a:defRPr>
            </a:pPr>
            <a:r>
              <a:t>IDR 358.7B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B76BA-347A-447A-A0CA-92ED8D7A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135630"/>
            <a:ext cx="996791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777"/>
                </a:solidFill>
              </a:defRPr>
            </a:pPr>
            <a:r>
              <a:t>Net underwriting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BAEAC-81D8-416A-99FA-FE11258B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571750"/>
            <a:ext cx="655796" cy="525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F2747"/>
                </a:solidFill>
              </a:defRPr>
            </a:pPr>
            <a:r>
              <a:t>21.77%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294E7-E2A6-4F56-A236-634F75C6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135630"/>
            <a:ext cx="891254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777"/>
                </a:solidFill>
              </a:defRPr>
            </a:pPr>
            <a:r>
              <a:t>Premium ceded ratio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2B157-EF47-4059-B58B-B7955D06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58540"/>
            <a:ext cx="1435989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F5AA6"/>
                </a:solidFill>
              </a:defRPr>
            </a:pPr>
            <a:r>
              <a:t>Where value is concentrated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A15EC-0415-47BF-90A0-49E2ECA3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2380"/>
            <a:ext cx="601246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B2430"/>
                </a:solidFill>
              </a:defRPr>
            </a:pPr>
            <a:r>
              <a:t>1. Channel D is the strongest scaled segment with 17.60% net loss ratio and IDR 411.4B net underwriting result.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AE0BD-C779-4550-90BB-54734C17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6326791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B2430"/>
                </a:solidFill>
              </a:defRPr>
            </a:pPr>
            <a:r>
              <a:t>2. COB 3 is the best-performing class with 6.03% net loss ratio, although the policy base is smaller than major classes.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63043-F0A8-47D1-B952-195F76EF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12920"/>
            <a:ext cx="7003637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B2430"/>
                </a:solidFill>
              </a:defRPr>
            </a:pPr>
            <a:r>
              <a:t>3. Reinsurance provides claim relief in nominal terms, but lower net premium means net loss ratio can still exceed gross loss ratio.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3A04C-210B-4BFA-914A-0F362B46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58540"/>
            <a:ext cx="190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D9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C6FA3-5CD5-40E0-9AF7-58D3B5A1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58540"/>
            <a:ext cx="203654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F5AA6"/>
                </a:solidFill>
              </a:defRPr>
            </a:pPr>
            <a:r>
              <a:t>Where management attention is needed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C177F-A326-49D8-A4CB-E44AB868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50970"/>
            <a:ext cx="4790599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B2430"/>
                </a:solidFill>
              </a:defRPr>
            </a:pPr>
            <a:r>
              <a:t>1. COB 4 is loss-making at 106.55% net loss ratio with -IDR 91.7B net underwriting result.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CA3419-6F8C-4733-A1D8-5A8A8BAF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06240"/>
            <a:ext cx="4913186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B2430"/>
                </a:solidFill>
              </a:defRPr>
            </a:pPr>
            <a:r>
              <a:t>2. Branch K and Channel B are the two largest loss pockets, both above 100% net loss ratio.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DD232-EEE3-4236-A925-9BA47BAA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61510"/>
            <a:ext cx="5651564" cy="1600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B2430"/>
                </a:solidFill>
              </a:defRPr>
            </a:pPr>
            <a:r>
              <a:t>3. Product0221 is the most material loss-making product in the filtered ranking at 120.59% net loss ratio.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8F0781-11D0-4DA6-B094-8F2013F3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8340"/>
            <a:ext cx="3858578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777"/>
                </a:solidFill>
              </a:defRPr>
            </a:pPr>
            <a:r>
              <a:t>Source: Step 5 notebook result | Large-claim analysis shown separately as sensitivity, not as forecast</a:t>
            </a:r>
          </a:p>
        </p:txBody>
      </p:sp>
    </p:spTree>
    <p:extLst>
      <p:ext uri="{BB962C8B-B14F-4D97-AF65-F5344CB8AC3E}">
        <p14:creationId xmlns:p14="http://schemas.microsoft.com/office/powerpoint/2010/main" val="1761191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20F57B-086C-4039-B35E-B5A22D37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3919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0B7A7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DC81D-0875-45FE-9DAC-52997B2E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645426" cy="3200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F2747"/>
                </a:solidFill>
              </a:defRPr>
            </a:pPr>
            <a:r>
              <a:t>Large-claim sensitivity confirms that a small set of segments drives most downside in the portfolio.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D34D9-BA81-4AC4-8B79-981365EC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05840"/>
            <a:ext cx="5428964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777"/>
                </a:solidFill>
              </a:defRPr>
            </a:pPr>
            <a:r>
              <a:t>Management implication: prioritize underwriting remediation and claim governance in the most volatile pockets first.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F7FE0-4744-44E0-8313-6DFC7846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1610"/>
            <a:ext cx="955929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F5AA6"/>
                </a:solidFill>
              </a:defRPr>
            </a:pPr>
            <a:r>
              <a:t>Segment scorecard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B4CC1-6E45-480F-BADE-9816B352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4040"/>
            <a:ext cx="809625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777"/>
                </a:solidFill>
              </a:defRPr>
            </a:pPr>
            <a:r>
              <a:t>Best scale segment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C334F-EE58-4B78-A9F6-7F099A65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304318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B2430"/>
                </a:solidFill>
              </a:defRPr>
            </a:pPr>
            <a:r>
              <a:t>CHANNEL D | Net LR 17.60% | Net underwriting result IDR 411.4B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B8F66-8908-4220-A84C-24C1025F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4590"/>
            <a:ext cx="533400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D9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5D4BB-B0BA-401F-963E-DFA300E9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9365"/>
            <a:ext cx="798862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777"/>
                </a:solidFill>
              </a:defRPr>
            </a:pPr>
            <a:r>
              <a:t>Largest loss pocket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680DA-7EB5-443F-858C-8A54DCFF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0345"/>
            <a:ext cx="3396139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B2430"/>
                </a:solidFill>
              </a:defRPr>
            </a:pPr>
            <a:r>
              <a:t>CHANNEL B | Net LR 116.16% | Net underwriting result -IDR 263.9B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797CC-E9CF-4CA1-B0DD-5746AA60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4185"/>
            <a:ext cx="533400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D9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37280-EFEF-4013-A3E1-4ACDBC7C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8960"/>
            <a:ext cx="902970" cy="251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777"/>
                </a:solidFill>
              </a:defRPr>
            </a:pPr>
            <a:r>
              <a:t>Most resilient branch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B3FD2-C318-42F3-B3FE-6A5EB4BE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55670"/>
            <a:ext cx="3184588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B2430"/>
                </a:solidFill>
              </a:defRPr>
            </a:pPr>
            <a:r>
              <a:t>BRANCH H | Net LR 12.02% | Net underwriting result IDR 21.3B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3089E-268F-428C-80A6-F2E3C699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533400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D9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E3F91-3A77-427B-8DBF-F1B329FA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52875"/>
            <a:ext cx="887730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777"/>
                </a:solidFill>
              </a:defRPr>
            </a:pPr>
            <a:r>
              <a:t>Highest-priority class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B9455-58F3-4570-A21E-9F564DBF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3855"/>
            <a:ext cx="3184589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B2430"/>
                </a:solidFill>
              </a:defRPr>
            </a:pPr>
            <a:r>
              <a:t>COB 4 | Net LR 106.55% | Claim relief only 3.82% of gross claim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6565A-08D9-4CDC-91ED-E5D2F064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7695"/>
            <a:ext cx="533400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D9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6CE1E-20E1-4CC7-96EB-3A3D9B71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2470"/>
            <a:ext cx="1152716" cy="1257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777"/>
                </a:solidFill>
              </a:defRPr>
            </a:pPr>
            <a:r>
              <a:t>Trend by underwriting year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FB5C9-89CD-4950-A2CD-C0341A32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5679948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B2430"/>
                </a:solidFill>
              </a:defRPr>
            </a:pPr>
            <a:r>
              <a:t>2021 was the weakest cohort at 68.77% net LR; 2022 improved materially; 2023 remained above 2022 at 38.24%.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24C96F-13D5-425B-B0CA-B7C623BD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51610"/>
            <a:ext cx="1264634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F5AA6"/>
                </a:solidFill>
              </a:defRPr>
            </a:pPr>
            <a:r>
              <a:t>Sensitivity to large claims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397121-C8F4-4182-9271-7A1E91EC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63090"/>
            <a:ext cx="1736217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2747"/>
                </a:solidFill>
              </a:defRPr>
            </a:pPr>
            <a:r>
              <a:t>58.54%  →  5.07%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4CC6C-1B6C-4777-98DA-15D80F8D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48890"/>
            <a:ext cx="3926872" cy="148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B2430"/>
                </a:solidFill>
              </a:defRPr>
            </a:pPr>
            <a:r>
              <a:t>Portfolio net loss ratio if large-claim impact is excluded in a sensitivity scenario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CBE2C-71AB-4837-8A78-9CAD7DB2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11780"/>
            <a:ext cx="533400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D9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FBB4BB-DA02-47DB-8E9F-3FE11513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35605"/>
            <a:ext cx="92564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F2747"/>
                </a:solidFill>
              </a:defRPr>
            </a:pPr>
            <a:r>
              <a:t>105.1 ppt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BBD203-8398-40DC-B788-BD7A2902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5655"/>
            <a:ext cx="3789997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B2430"/>
                </a:solidFill>
              </a:defRPr>
            </a:pPr>
            <a:r>
              <a:t>Largest net LR reduction occurs in COB 4, improving from 106.55% to 1.43%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29AD0-51B9-4909-9D92-2DA37BED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47135"/>
            <a:ext cx="5334000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rgbClr val="D9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1C90A-63C7-482E-81E5-96DDB8D7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70960"/>
            <a:ext cx="114700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F2747"/>
                </a:solidFill>
              </a:defRPr>
            </a:pPr>
            <a:r>
              <a:t>Recommended actions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CBFC3F-3A30-46F3-BD2C-34BAEE04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82440"/>
            <a:ext cx="4108037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B2430"/>
                </a:solidFill>
              </a:defRPr>
            </a:pPr>
            <a:r>
              <a:t>1. Tighten underwriting terms and pricing for COB 4, Channel B, and Product0221.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E555BD-F642-47DB-8B10-927F9D98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93920"/>
            <a:ext cx="5227701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B2430"/>
                </a:solidFill>
              </a:defRPr>
            </a:pPr>
            <a:r>
              <a:t>2. Review claim management and case reserving for large-loss cohorts, especially 2021 vintage business.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9D1E5E-C71B-479B-AF90-7E64E7D6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05400"/>
            <a:ext cx="4918710" cy="297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B2430"/>
                </a:solidFill>
              </a:defRPr>
            </a:pPr>
            <a:r>
              <a:t>3. Revisit reinsurance structure for segments with low claim relief despite high downside volatility.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591683-1432-4F89-933B-CB01F6E8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4030"/>
            <a:ext cx="2854357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777"/>
                </a:solidFill>
              </a:defRPr>
            </a:pPr>
            <a:r>
              <a:t>Source: Step 5 notebook result | Figures rounded for executive readability</a:t>
            </a:r>
          </a:p>
        </p:txBody>
      </p:sp>
    </p:spTree>
    <p:extLst>
      <p:ext uri="{BB962C8B-B14F-4D97-AF65-F5344CB8AC3E}">
        <p14:creationId xmlns:p14="http://schemas.microsoft.com/office/powerpoint/2010/main" val="804409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2026-06-04T07:33:22.4420000Z</dcterms:created>
  <dcterms:modified xsi:type="dcterms:W3CDTF">2026-06-04T07:33:22.4430000Z</dcterms:modified>
</coreProperties>
</file>